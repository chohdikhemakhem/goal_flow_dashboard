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6075595a64659" /><Relationship Type="http://schemas.openxmlformats.org/officeDocument/2006/relationships/extended-properties" Target="/docProps/app.xml" Id="R0394ad3e23ee483f" /><Relationship Type="http://schemas.openxmlformats.org/officeDocument/2006/relationships/officeDocument" Target="/ppt/presentation.xml" Id="R19cb77a62add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519424a2b4b04"/>
  </p:sldMasterIdLst>
  <p:notesMasterIdLst>
    <p:notesMasterId xmlns:r="http://schemas.openxmlformats.org/officeDocument/2006/relationships" r:id="R34eef27705d64fa9"/>
  </p:notesMasterIdLst>
  <p:sldIdLst>
    <p:sldId xmlns:r="http://schemas.openxmlformats.org/officeDocument/2006/relationships" id="256" r:id="Rfe4875a5bf474c4f"/>
    <p:sldId xmlns:r="http://schemas.openxmlformats.org/officeDocument/2006/relationships" id="257" r:id="Ra8c3608e68ff409e"/>
    <p:sldId xmlns:r="http://schemas.openxmlformats.org/officeDocument/2006/relationships" id="258" r:id="Ra70e9f7b4ab841e7"/>
    <p:sldId xmlns:r="http://schemas.openxmlformats.org/officeDocument/2006/relationships" id="259" r:id="Rfb20a8dc746e4deb"/>
    <p:sldId xmlns:r="http://schemas.openxmlformats.org/officeDocument/2006/relationships" id="260" r:id="R4708782ae17c49eb"/>
    <p:sldId xmlns:r="http://schemas.openxmlformats.org/officeDocument/2006/relationships" id="261" r:id="R9256439b5ff048f9"/>
    <p:sldId xmlns:r="http://schemas.openxmlformats.org/officeDocument/2006/relationships" id="262" r:id="Ra690eda766e745a4"/>
    <p:sldId xmlns:r="http://schemas.openxmlformats.org/officeDocument/2006/relationships" id="263" r:id="R6966e6878c044460"/>
    <p:sldId xmlns:r="http://schemas.openxmlformats.org/officeDocument/2006/relationships" id="264" r:id="R2d3e5b76230848f5"/>
    <p:sldId xmlns:r="http://schemas.openxmlformats.org/officeDocument/2006/relationships" id="265" r:id="R49df731eb9784e08"/>
    <p:sldId xmlns:r="http://schemas.openxmlformats.org/officeDocument/2006/relationships" id="266" r:id="Re9b8dc09da9a49e1"/>
    <p:sldId xmlns:r="http://schemas.openxmlformats.org/officeDocument/2006/relationships" id="267" r:id="R8bb53e7dc25247a1"/>
    <p:sldId xmlns:r="http://schemas.openxmlformats.org/officeDocument/2006/relationships" id="268" r:id="R30db6804c50f41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5d13bd3a44b55" /><Relationship Type="http://schemas.openxmlformats.org/officeDocument/2006/relationships/slideMaster" Target="/ppt/slideMasters/slideMaster1.xml" Id="Refb519424a2b4b04" /><Relationship Type="http://schemas.openxmlformats.org/officeDocument/2006/relationships/notesMaster" Target="/ppt/notesMasters/notesMaster1.xml" Id="R34eef27705d64fa9" /><Relationship Type="http://schemas.openxmlformats.org/officeDocument/2006/relationships/presProps" Target="/ppt/presProps.xml" Id="R454481f1a08141de" /><Relationship Type="http://schemas.openxmlformats.org/officeDocument/2006/relationships/viewProps" Target="/ppt/viewProps.xml" Id="R89378e223c8b42cc" /><Relationship Type="http://schemas.openxmlformats.org/officeDocument/2006/relationships/tableStyles" Target="/ppt/tableStyles.xml" Id="R43f326b08ea84548" /><Relationship Type="http://schemas.openxmlformats.org/officeDocument/2006/relationships/slide" Target="/ppt/slides/slide1.xml" Id="Rfe4875a5bf474c4f" /><Relationship Type="http://schemas.openxmlformats.org/officeDocument/2006/relationships/slide" Target="/ppt/slides/slide2.xml" Id="Ra8c3608e68ff409e" /><Relationship Type="http://schemas.openxmlformats.org/officeDocument/2006/relationships/slide" Target="/ppt/slides/slide3.xml" Id="Ra70e9f7b4ab841e7" /><Relationship Type="http://schemas.openxmlformats.org/officeDocument/2006/relationships/slide" Target="/ppt/slides/slide4.xml" Id="Rfb20a8dc746e4deb" /><Relationship Type="http://schemas.openxmlformats.org/officeDocument/2006/relationships/slide" Target="/ppt/slides/slide5.xml" Id="R4708782ae17c49eb" /><Relationship Type="http://schemas.openxmlformats.org/officeDocument/2006/relationships/slide" Target="/ppt/slides/slide6.xml" Id="R9256439b5ff048f9" /><Relationship Type="http://schemas.openxmlformats.org/officeDocument/2006/relationships/slide" Target="/ppt/slides/slide7.xml" Id="Ra690eda766e745a4" /><Relationship Type="http://schemas.openxmlformats.org/officeDocument/2006/relationships/slide" Target="/ppt/slides/slide8.xml" Id="R6966e6878c044460" /><Relationship Type="http://schemas.openxmlformats.org/officeDocument/2006/relationships/slide" Target="/ppt/slides/slide9.xml" Id="R2d3e5b76230848f5" /><Relationship Type="http://schemas.openxmlformats.org/officeDocument/2006/relationships/slide" Target="/ppt/slides/slide10.xml" Id="R49df731eb9784e08" /><Relationship Type="http://schemas.openxmlformats.org/officeDocument/2006/relationships/slide" Target="/ppt/slides/slide11.xml" Id="Re9b8dc09da9a49e1" /><Relationship Type="http://schemas.openxmlformats.org/officeDocument/2006/relationships/slide" Target="/ppt/slides/slide12.xml" Id="R8bb53e7dc25247a1" /><Relationship Type="http://schemas.openxmlformats.org/officeDocument/2006/relationships/slide" Target="/ppt/slides/slide13.xml" Id="R30db6804c50f41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0dd0303e7a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c1fd622ff4790" /><Relationship Type="http://schemas.openxmlformats.org/officeDocument/2006/relationships/notesMaster" Target="/ppt/notesMasters/notesMaster1.xml" Id="R55fc1434f5724c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10d7c7acd4dde" /><Relationship Type="http://schemas.openxmlformats.org/officeDocument/2006/relationships/notesMaster" Target="/ppt/notesMasters/notesMaster1.xml" Id="Ra5c5098b7be14a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44d57fba454e77" /><Relationship Type="http://schemas.openxmlformats.org/officeDocument/2006/relationships/notesMaster" Target="/ppt/notesMasters/notesMaster1.xml" Id="R6214d9b75101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aa907f242343d5" /><Relationship Type="http://schemas.openxmlformats.org/officeDocument/2006/relationships/notesMaster" Target="/ppt/notesMasters/notesMaster1.xml" Id="R9aa1680e21c544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dc49d669c94714" /><Relationship Type="http://schemas.openxmlformats.org/officeDocument/2006/relationships/notesMaster" Target="/ppt/notesMasters/notesMaster1.xml" Id="R8b0864af39a84a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2f41bfbfc34679" /><Relationship Type="http://schemas.openxmlformats.org/officeDocument/2006/relationships/notesMaster" Target="/ppt/notesMasters/notesMaster1.xml" Id="R392aa7670544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db1045b73e4b92" /><Relationship Type="http://schemas.openxmlformats.org/officeDocument/2006/relationships/notesMaster" Target="/ppt/notesMasters/notesMaster1.xml" Id="R91d16ed11f0543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445efdaca24828" /><Relationship Type="http://schemas.openxmlformats.org/officeDocument/2006/relationships/notesMaster" Target="/ppt/notesMasters/notesMaster1.xml" Id="R635be79752ce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41d55eca244519" /><Relationship Type="http://schemas.openxmlformats.org/officeDocument/2006/relationships/notesMaster" Target="/ppt/notesMasters/notesMaster1.xml" Id="R9220c7db89554f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a13abecd0d4551" /><Relationship Type="http://schemas.openxmlformats.org/officeDocument/2006/relationships/notesMaster" Target="/ppt/notesMasters/notesMaster1.xml" Id="Rf589e78f2a2448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fab27686e457c" /><Relationship Type="http://schemas.openxmlformats.org/officeDocument/2006/relationships/notesMaster" Target="/ppt/notesMasters/notesMaster1.xml" Id="Rce3661c285ac4c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055d7da2094fab" /><Relationship Type="http://schemas.openxmlformats.org/officeDocument/2006/relationships/notesMaster" Target="/ppt/notesMasters/notesMaster1.xml" Id="R95c212dd32334b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af21d137624318" /><Relationship Type="http://schemas.openxmlformats.org/officeDocument/2006/relationships/notesMaster" Target="/ppt/notesMasters/notesMaster1.xml" Id="R66ce868f0055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74bb25102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016826900a4c65" /><Relationship Type="http://schemas.openxmlformats.org/officeDocument/2006/relationships/slideLayout" Target="/ppt/slideLayouts/slideLayout1.xml" Id="R245ea2a639eb42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ea2a639eb42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e45c3edb64783" /><Relationship Type="http://schemas.openxmlformats.org/officeDocument/2006/relationships/image" Target="/ppt/media/image.jpeg" Id="R1bea8a0a27b14d4d" /><Relationship Type="http://schemas.openxmlformats.org/officeDocument/2006/relationships/image" Target="/ppt/media/image.png" Id="R8694cf0422334d6c" /><Relationship Type="http://schemas.openxmlformats.org/officeDocument/2006/relationships/notesSlide" Target="/ppt/notesSlides/notesSlide1.xml" Id="Rf0019252a6454f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275a7a7584a92" /><Relationship Type="http://schemas.openxmlformats.org/officeDocument/2006/relationships/notesSlide" Target="/ppt/notesSlides/notesSlide2.xml" Id="Rf16f393e03aa40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9f084ca1246d2" /><Relationship Type="http://schemas.openxmlformats.org/officeDocument/2006/relationships/notesSlide" Target="/ppt/notesSlides/notesSlide3.xml" Id="Rc461d96114d24d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361b8cd044284" /><Relationship Type="http://schemas.openxmlformats.org/officeDocument/2006/relationships/notesSlide" Target="/ppt/notesSlides/notesSlide4.xml" Id="R38f29cbd25644d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086a0b3d04334" /><Relationship Type="http://schemas.openxmlformats.org/officeDocument/2006/relationships/image" Target="/ppt/media/image2.png" Id="R29704075f0fd4d3e" /><Relationship Type="http://schemas.openxmlformats.org/officeDocument/2006/relationships/notesSlide" Target="/ppt/notesSlides/notesSlide5.xml" Id="Rafbc98d709b848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7babe1e2a4377" /><Relationship Type="http://schemas.openxmlformats.org/officeDocument/2006/relationships/notesSlide" Target="/ppt/notesSlides/notesSlide6.xml" Id="R80d526faab3f49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be91dd0b94397" /><Relationship Type="http://schemas.openxmlformats.org/officeDocument/2006/relationships/notesSlide" Target="/ppt/notesSlides/notesSlide7.xml" Id="R64128c8a1eca4c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43871479b4cd1" /><Relationship Type="http://schemas.openxmlformats.org/officeDocument/2006/relationships/image" Target="/ppt/media/image3.png" Id="R676ada2b92d4490a" /><Relationship Type="http://schemas.openxmlformats.org/officeDocument/2006/relationships/notesSlide" Target="/ppt/notesSlides/notesSlide8.xml" Id="Reaf662014b1944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d4ca5dd243b1" /><Relationship Type="http://schemas.openxmlformats.org/officeDocument/2006/relationships/notesSlide" Target="/ppt/notesSlides/notesSlide9.xml" Id="Rdb0bef6ca0514e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ce462338146e0" /><Relationship Type="http://schemas.openxmlformats.org/officeDocument/2006/relationships/image" Target="/ppt/media/image4.png" Id="R5bbccf97b3ed46e6" /><Relationship Type="http://schemas.openxmlformats.org/officeDocument/2006/relationships/notesSlide" Target="/ppt/notesSlides/notesSlide10.xml" Id="Rfd9e7a0e1b5e49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67568ac5b474a" /><Relationship Type="http://schemas.openxmlformats.org/officeDocument/2006/relationships/notesSlide" Target="/ppt/notesSlides/notesSlide11.xml" Id="R5f52c5887e1a49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b23b2e7e043f8" /><Relationship Type="http://schemas.openxmlformats.org/officeDocument/2006/relationships/notesSlide" Target="/ppt/notesSlides/notesSlide12.xml" Id="R11bf57cd9b0844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94b28b3eb462d" /><Relationship Type="http://schemas.openxmlformats.org/officeDocument/2006/relationships/notesSlide" Target="/ppt/notesSlides/notesSlide13.xml" Id="Rb96712973f1843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a8a0a27b14d4d"/>
          <a:srcRect xmlns:a="http://schemas.openxmlformats.org/drawingml/2006/main" l="0" t="30115" r="0" b="30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0B1DA-B273-4006-B499-BF5A3121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42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4cf0422334d6c"/>
          <a:stretch xmlns:a="http://schemas.openxmlformats.org/drawingml/2006/main"/>
        </p:blipFill>
        <p:spPr>
          <a:xfrm xmlns:a="http://schemas.openxmlformats.org/drawingml/2006/main">
            <a:off x="723900" y="690130"/>
            <a:ext cx="1714500" cy="69619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61664-AA31-463A-92A8-5F1D115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Metrics/GP/MCR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BDD26-F426-4273-A997-477682AD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4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4F5"/>
                </a:solidFill>
                <a:latin typeface="Aptos"/>
                <a:ea typeface="Aptos"/>
                <a:cs typeface="Aptos"/>
              </a:rPr>
              <a:t>Piloter les portefeuilles, fiabiliser les imports MCR et centraliser les indicateurs reseau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EB4B9-1349-4196-A73C-07E81290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39688-4305-488D-AC33-938B6CCA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Seminaire reseau interne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0FB8D-829B-4C09-A833-31D36536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8625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5C80E-B708-42B1-ADFE-23F75CCE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52925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 - MCR - Objectifs - Exports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D332C-A53A-4861-AEF4-386D699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96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Juin 2026</a:t>
            </a:r>
          </a:p>
        </p:txBody>
      </p:sp>
    </p:spTree>
    <p:extLst>
      <p:ext uri="{BB962C8B-B14F-4D97-AF65-F5344CB8AC3E}">
        <p14:creationId xmlns:p14="http://schemas.microsoft.com/office/powerpoint/2010/main" val="10655792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6D143B-93BE-4AAA-8ED9-3BC2420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3F1CA-027D-4918-8BD9-FAAAF137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B1ADC-68B8-4BE8-B0F1-56301D38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POURQUOI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FB693-F4BC-4974-99EE-DDAB6918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Un besoin reseau: transformer les MCR en pilotage quotidien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1E43-E8D3-4E51-9AA7-B2270A9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L'application donne une lecture fiable du portefeuille, des decaissements et du risque pour chaque niveau de responsabilite.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1CE89-FD6C-4F9D-BBB7-96850DA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5D342-8D00-4E87-96D9-73CDE63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3BD8C-C8DE-4724-9E4C-0511D71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Avant l'application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77DEC-67AC-4A0E-A340-2CD62E6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933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Fichiers MCR manipules manuellement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Calculs repetes dans Excel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Visibilite limitee entre agences, GP et siege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F4394-3A39-4442-A79D-7D2B19C4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FB289-320C-4EF2-8C8E-62D14F51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1AACF-9947-4640-AE88-5216D32F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669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Besoin metier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D19FA-95C5-437F-95E4-CFF4C1E7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90800"/>
            <a:ext cx="2933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Suivre les indicateurs avec une source unique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Comparer les mois et snapshots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Controler les objectifs et 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91D55-3CBC-43BC-83D9-16A7C55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43173-2B42-43FB-BA4F-56AB768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C0A95-54EE-4BEC-9CA9-4D7A2F56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Reponse apportee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8619E-F802-4C70-98CD-4FCBB3A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90800"/>
            <a:ext cx="2933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Dashboard centralise par role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Imports MCR historises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Calculs automatiques des metrics et rapports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E5A9F-8D2F-4EAA-B787-1662E94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A7177-5DB4-4F7C-9021-1F72013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67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MCR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07DCA-C147-4E40-9C87-7164EF1C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720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Donnees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3B77E-B7DF-4F95-AAEA-AF31200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62575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source operationnelle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B2785-7DB9-41F7-A7E3-E3DE4D8B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DBDF9-DE56-45BF-BF7B-C6496D5F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67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79C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79C9"/>
                </a:solidFill>
                <a:latin typeface="Aptos"/>
                <a:ea typeface="Aptos"/>
                <a:cs typeface="Aptos"/>
              </a:rPr>
              <a:t>Temps reel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134B8-835A-4460-BD79-C9BF6C7E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720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Pilotage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987D3-BFAF-49A9-8A87-C1F5EF17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62575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etat actuel + historique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A2567-53DD-47E2-A72E-EAE5F2D7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434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48F19-9B57-4601-BB5D-84A57964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867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85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5858"/>
                </a:solidFill>
                <a:latin typeface="Aptos"/>
                <a:ea typeface="Aptos"/>
                <a:cs typeface="Aptos"/>
              </a:rPr>
              <a:t>PAR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C9837-51D9-45E2-8EE9-B3F3D45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1720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Risque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B652A-5813-44AE-8C4E-3D90BAF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62575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cohortes lisibles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76DF0-8B61-4C31-B728-CBE66CFD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9D35A-165F-46F5-AF31-424509FD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67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9B3D"/>
                </a:solidFill>
                <a:latin typeface="Aptos"/>
                <a:ea typeface="Aptos"/>
                <a:cs typeface="Aptos"/>
              </a:rPr>
              <a:t>PDF/Excel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2AFFC-A8BA-43BE-8A71-92B6DA22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720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Sorties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19D66-E211-4B8D-A699-EA1122A2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62575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rapports standardises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1E1C1-68A3-46AB-A133-C6F35C70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4B6F66-3511-4AF2-A47C-A90228A5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E7EA1-2197-471D-B3C7-DE3CD81B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78126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CCE17-2741-401C-804F-EDFB344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497DB-52AF-436D-AB97-9631C646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25FE-C070-4FDD-8FB0-191E957A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01558-BB33-45B1-B0AF-64BFFCC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Une architecture web simple, robuste et separable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E912A-CFA8-4A0D-87B3-8C92A4CA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React/Vite pour l'interface, FastAPI pour les APIs, PostgreSQL pour la persistance, Docker pour l'environnement.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8F614-CB4E-4B9E-8B2E-0F5C7A9E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CB161-EB3E-4B59-A1D9-5EC43388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370F7-33C1-4106-9B37-586F854D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Frontend React/Vite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33BAA-5CCA-4D04-A062-90625951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Filtres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Charts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64EE-267E-41AE-B139-823668B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7ED2B-31C3-403F-886C-FDACEC3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371B8-8307-497E-A9A6-D57A63E9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Backend 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78F43-F67D-4BFA-8687-E858A370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Auth JWT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Calcul metrics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Imports MCR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E378F-4ECB-40D9-9B09-1B2CAEF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D01A3-D277-41BE-A845-2E56EF74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C1719-2F8C-455F-849E-78E3A72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09F39-FAC0-45BA-9811-F638D8B3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ImportBatch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LoanRaw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Targets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37567-C62F-4956-AA38-04ABD02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FB7F6-86EB-4207-91FF-B1AA583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343B9-A299-48E3-B534-2D992C53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342D7-95C6-412B-BB16-67234C5D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Frontend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Backend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Environnements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70A73-F51F-43B7-A3BC-6BE0065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9562C-81B7-4FE1-AD1D-67D836C7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8B22D-2578-4F3F-96A3-95867BB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557BA-7BBC-4E10-BAE3-97DA7194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Flux de donnees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129A4-66FE-4117-AB36-6B260F82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ACF0F-550F-45DC-B92F-5BA7271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Import MCR: l'etat courant est remplace et l'ancien etat peut devenir snapshot date.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36578-9531-4EB3-BB49-8AC9885A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C013E-5F7B-48A0-A17D-2D926A37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Calculs metrics: chaque point est calcule sur un batch MCR precis, sans melanger les sources.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5DA237-D056-4817-8850-8954E63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71C7B-B84D-4C0E-AE24-C2646398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Visualisation: dashboard, tableaux et exports consomment les memes formules backend.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8E491-C0F4-44BF-BFCE-81797CEB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C2E8D-C2EE-41E4-B577-057379F9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977996-3B9D-452C-A4A7-C0722EF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00211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88ED2-DBD6-44C2-B71D-87441962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E303F-6F8F-472B-8600-BEBE2C0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27882-5D68-442C-8A62-1E3AEC62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0ACE0-9CBD-4EFE-9CE3-C91B347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Les fonctionnalites couvrent toute la chaine de pilotage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6AF44-C07D-47BB-9FD9-EA548F93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Du depot du MCR jusqu'aux tableaux de bord, objectifs, exports et gestion des droits.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946A-76A4-4097-8242-548AFD5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F6AD8-B39A-4F3F-A5D6-92020E51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BDBD9-3087-469C-802F-E2F4E896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Dashboard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AC6F0-8942-4577-A353-FCF9B0F6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Vue GP, agence, region et siege avec filtres, chartes et metrics clefs.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205E9-605A-4661-A515-F10D56E6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E3280-1561-4BDB-BDFC-D172A5AF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F21ED-8FFD-469F-8AFF-8F3BA4A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193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Importation MCR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BE517-1691-4052-95D8-E846D8F7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43175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Etat actuel, mois passe, snapshots historiques et remplacement controle.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00AC6-E613-40F2-A099-6E0A407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E7019-D7D9-45D1-B298-6260DDD1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91B22-6A6A-46F5-B9CF-836B9D46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193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Objectifs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73E15-2F55-4CAA-8A70-98301411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43175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Affectation agence/GP, periode active, atteinte et lecture par role.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B7681-75B3-4740-ADFB-AD8806C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0BC15-7E41-4B41-B233-921E598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594B2-B17A-42F0-A042-62440C74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D3F34-FB21-4A9E-A8CC-3C6DF2A9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Rapports Excel/PDF: impayes, renouvellement, echeances futures et syntheses agence.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9AF18-9DB1-45FB-99C5-0F155CCD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997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45075-FC0F-4969-A544-1B9C5BD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9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9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39AC2-51AD-4C1E-9F38-02DDEA81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Utilisateurs et roles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02254-338D-42F4-99C1-F5F71CBA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05275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Super Admin, Admin regional, Chef d'agence, Portfolio Manager.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7C54A-D881-457F-B955-DDF7FC3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9975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B9B94-E8C9-48D7-BDD5-8B616478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9975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07B43-E632-47A2-ACC6-E6A21DE8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814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Securite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761D1-433B-4F6F-B6FF-8D399082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Authentification, changement obligatoire du mot de passe, scopes et permissions.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2E85B-68D5-4558-8AA0-1025EFD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7E0A67-BACC-4C21-AEE4-E2F79885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D3F01-B9E6-4F63-BDB8-568D1D14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27059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E3871-AE6E-4308-B0DA-6A29B43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D3E21-3C2E-40BA-AD35-9C371767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95D0A-EEB6-4F35-980C-A648DA9E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750C1-C618-4306-9E11-2B610B1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Les indicateurs essentiels sont visibles par profil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1283B-07F0-44F8-8FDA-3248D95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Chaque profil voit son perimetre: GP individuel, agence, region ou vision globale siege.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04075f0fd4d3e"/>
          <a:stretch xmlns:a="http://schemas.openxmlformats.org/drawingml/2006/main"/>
        </p:blipFill>
        <p:spPr>
          <a:xfrm xmlns:a="http://schemas.openxmlformats.org/drawingml/2006/main">
            <a:off x="557651" y="1885950"/>
            <a:ext cx="6752347" cy="3590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74276-D8E0-4E83-853C-B6E95F67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54D5A-79AF-4E20-98D9-91ED35F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B023E-2EA1-48D6-B13C-60229526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Metrics de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AD739-0CA9-418F-A4DE-1C7E027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47925"/>
            <a:ext cx="3028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Client Actif, Nombre de decaissements, Volume decaisse, Encours.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858F4-7B80-42D1-B0C7-80DFB8C4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D330A-F29C-4044-9D74-2E4D14E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DAF23-A233-438B-98A7-63D821E2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62325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Metrics de risque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46F84-7AF7-409C-9A89-EE9A70B6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86175"/>
            <a:ext cx="3028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Encours sain, PAR0, PAR30, cohortes 1-30, 31-60, 61-90, 91-120 et PAR120.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A61EF-4F4E-45C8-84C8-6116758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29125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BD648-E8F7-435F-8296-9C63AC0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291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E90CB-B561-4BDB-89D7-EAD061AF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00575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Filtres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6CDC5-B1F0-4550-BE52-1CD8D0A2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924425"/>
            <a:ext cx="3028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Agence, agent, periode, snapshots et mode global/par agence selon le role.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CE890-56FD-4511-842A-FCEF0A5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54909-45B1-4A06-B1B4-587CA3D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C91C3-468B-4D53-BADD-6A0529B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63990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33BCE-65A0-4DB2-9E45-8021379C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7611B-44FA-4438-9F86-350E54A7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20C32-0653-4D00-AA93-915D9DCD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CALCULS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0B15A-BAA7-4926-8316-7345AD0E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Les metrics s'appuient sur des formules unifiees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A17CD-6E5B-40F4-AA8F-539C487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La meme logique alimente le dashboard, les tableaux et les exports.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3C59-DE16-4A59-A8B5-30BA1CA1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27D3E-C291-4539-8709-2675DCF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CDF21-4766-49B6-88E9-A192BE9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E6E7E-1C8E-4A4E-A91B-8D510A5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4079-E341-408B-B4D4-4F70FB30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Formule simplifiee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510BC-D38A-464F-ADD2-69AFC009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4854A-C823-413C-801F-EA87B26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764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8095F-BC87-4A4C-99E6-3E9C860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A96FB-E1AE-4141-AB94-BDF6DDA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A3BD3-C3F2-443D-A234-08F223F2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Encours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7F9E1-D84B-4584-A2DE-9FF9B62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51AC1-ECFB-4AF4-9720-CDF8D02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908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PRINCIPAL_OUTSTANDING + TOTAL_PRINCIPAL_DUE_AMT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7AAEB-66BE-4CDC-8443-20E772A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570D8-E2C0-4CC0-A294-CCE400A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Stock financier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0FE1A-9788-496B-8EA2-F9F158EE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6F7E2-8F36-4195-9737-555DEA1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AF03E-5994-4BD4-87A9-FDFBF6F4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Volume decaisse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4926A-1744-4614-BE27-8D69C4F5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D5972-071A-4880-819F-A5234D0E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SUM(DISBURSEMENT_AMOUNT)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A5439-70BD-4E10-A9D0-C3F1A0FF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B2076-502F-4655-8B63-07009C05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Flux de decaissement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9ACFB-0995-485A-AC30-C0AB307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5A1A4-3B01-497A-AD51-B7D34F49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4E6875-AB62-4525-A176-BD343133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Client Actif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66580-D0F7-4DB5-A06A-B32030C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A7CBB-6285-4253-982E-3B088D6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COUNT DISTINCT CLIENT_NO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55775-1091-4DE5-A2A3-C52516AB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662D2-017C-4722-B859-7F43043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195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Portefeuille client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03F26-E2DF-42BB-B2D5-B1416054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BF65D-881E-4951-9AC3-3914E8B1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D2DE21-D929-44CB-9300-9710AAB6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PAR30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0A5DB-84D8-43C2-B6C3-39E0AC38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576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31BEB2-8FCB-4D1E-A4D4-1C8A8C5E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3385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SUM(Encours si jours de retard &gt; 30)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B6DB7D-64DB-4271-BDAA-C370EC0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909F9B-7CF9-4F7B-B63A-82D79E04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Risque majeur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717F90-EE87-4FDB-A176-64A2572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8D105F-0498-408C-8C8A-7302B5F0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4E1004-DA37-4862-9D7D-52059953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Cohortes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906ECC-DA05-4998-AC82-E24BDA5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B1E6C0-5F01-4356-A439-BD79BFE4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SUM(Encours par tranche de retard)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043C7D-D141-4B14-8799-7F262E5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A5F52F-FBFF-4A01-B51F-F04608EA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482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Lecture detaillee du vieillissement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52314B-19BE-4780-83BE-58EEE8C9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9FF457-05A5-42AD-ABC9-B1CDDBF3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C7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CC7EA"/>
                </a:solidFill>
                <a:latin typeface="Aptos"/>
                <a:ea typeface="Aptos"/>
                <a:cs typeface="Aptos"/>
              </a:rPr>
              <a:t>Retard court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DED115-CB49-433D-A256-475981EC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1-30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B14E15-51CB-4ACE-A5D4-9FDEF95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premier signal risque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DF0F56-3CBB-4801-BAC7-985689E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76875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90AD75-9D07-4997-9DA2-13A54E5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60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79C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79C9"/>
                </a:solidFill>
                <a:latin typeface="Aptos"/>
                <a:ea typeface="Aptos"/>
                <a:cs typeface="Aptos"/>
              </a:rPr>
              <a:t>Risque confirme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CB5920-F19C-4F76-A3E3-925F95F3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055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31-60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050AA4-22E2-4C44-A0EF-4AD322A8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9600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suivi prioritaire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55D102-5D30-44D6-8C1A-1349E207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2D569C-7623-4D30-AE31-739B6F4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85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5858"/>
                </a:solidFill>
                <a:latin typeface="Aptos"/>
                <a:ea typeface="Aptos"/>
                <a:cs typeface="Aptos"/>
              </a:rPr>
              <a:t>Risque eleve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0839E-859F-42E0-8B14-402A47D2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055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91-120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2F1954-662D-4D44-9576-A363F677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9600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action ciblee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8D6E4B-5751-4957-B5EF-7581863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76875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4CE26E-06B6-41BA-8693-C996F0FC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60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&gt;120 jours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9F9B53-26A3-425B-BA43-FB9FDB1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9055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PAR120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CD82FC-D5ED-4948-9A92-BB6EEDD0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09600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alerte portefeuille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AAA46A-4402-4EA6-9A6E-24029F2C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20F767-3E23-46BA-8A9B-6D9A88CF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D6354F-4C94-45AD-8980-92524B39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41563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F2EFF-D44E-4370-97C8-F1D3C758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244F6-B515-4FAE-9878-C176D0E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6719F-BF69-4EB5-BB7D-0AE84FF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IMPORTS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FC2EB-73ED-407E-BD05-2B60E853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Les snapshots donnent une memoire au portefeuille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9A3BC-0A17-40CE-A311-8F4089DF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Chaque import est trace et les mois clotures remplacent les snapshots du meme mois.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E8487-29EE-4275-AF60-53314570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559F3-DB22-4428-9C5E-234322C7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0786D-E09F-4DF2-BB3D-D66E3C7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52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1. Import etat actuel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5386-5654-426E-AE24-027A733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76550"/>
            <a:ext cx="20764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Lecture DateEOD et chargement MCR courant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725B3-B08D-42C3-B7B8-5E2480A0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C8311-8E6B-4DE4-8E46-CD7A3C0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32C98-A3E8-4E20-8C80-4EA6738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52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2.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6027E-6616-4336-A46E-83C32D3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76550"/>
            <a:ext cx="20764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Ancien CURRENT_STATE conserve comme photographie datee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5B2AD-107C-42E5-8404-787594D4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B46AF-E159-4D52-898F-ED51D87D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72DE0-B7ED-4EEB-A108-71FE7A7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52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3. Mois passe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AE759-9F38-479A-B0CA-78807172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76550"/>
            <a:ext cx="20764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Fichier final HISTORICAL_MONTH pour la cloture officielle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4A796-8778-4AAF-A39C-4C3C1C1D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95521-805B-43E7-ACD6-82BD15B0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D53B7-0531-46A1-8BBF-5815F9C8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52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4.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CAF6B-696C-45A1-A1B6-AB62974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76550"/>
            <a:ext cx="20764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Comparaison et selection manuelle des snapshots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4C402-6B34-427B-BADD-9570DA1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7E64D-797B-4D7E-991B-888CED85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98887-43F7-4F9B-AD89-48DB2F50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3D459-A483-4304-9F83-74347B03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EB570E-D368-4EE5-8626-EB0B9BB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Un seul CURRENT_STATE actif pour garantir une lecture claire de l'etat courant.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E1BDC-249F-4196-A2A5-E295B4E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D2ED0-73EB-4019-98F1-7370369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Les snapshots selectionnes deviennent des points supplementaires dans les chartes.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91918-5BCC-464C-9A51-4CE3F0A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86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7B6ED-A59F-4A22-84CF-08C0D96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2927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La suppression de snapshots est reservee aux profils autorises.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38292-CF1E-4DFA-916B-F198CC1E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44239A-48D0-471E-9E48-BBECDFB9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9B5D2-F5E5-4448-8E38-14E5DF44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42589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A1B8E-46E9-48B5-9B1A-A720867A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425D-108B-47BC-A9D7-F2FC6C6A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07270-F747-43CA-AA94-C123624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EA1AA-D3FD-40E7-8FEE-71D1CFB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Les parcours utilisateurs sont guides et controles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EABA-5BD1-485C-BE19-BA9CA598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Les actions critiques sont conditionnees par le role et par l'etat du compte.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ada2b92d4490a"/>
          <a:stretch xmlns:a="http://schemas.openxmlformats.org/drawingml/2006/main"/>
        </p:blipFill>
        <p:spPr>
          <a:xfrm xmlns:a="http://schemas.openxmlformats.org/drawingml/2006/main">
            <a:off x="619125" y="1954388"/>
            <a:ext cx="4381500" cy="23300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85CB2-D753-4197-BCB8-E001FBF8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2762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6F7EB-8F66-42A6-9FB7-44A31282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47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5EFD-1529-4309-9546-E0875E14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240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Premiere connexion GP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97BF2-BA97-448D-AABC-39BFD7ED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47925"/>
            <a:ext cx="236220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1. Recevoir email et mot de passe provisoire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2. Se connecter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3. Changer obligatoirement le mot de passe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4. Acceder au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B9AD5-CCEC-4968-98BA-B6F6E38A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762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72BAD-1157-410D-8476-0FFD8A7D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47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C249C-BC93-4A0E-AA20-E9E420AA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2407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Suivi objectifs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F03E5-1B31-4676-B748-B428CD71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47925"/>
            <a:ext cx="236220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Super Admin affecte les objectifs agence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Chef d'agence les repartit aux GP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GP consulte son atteinte en lecture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036C6-8B0F-4A3F-9B4D-CA5862B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1D4DB-CBD3-4B49-A1D9-CE095671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A4B35-F7F7-485A-A31F-13EAE31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339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Interaction chartes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64A91-0BCE-4717-BC9B-418AB411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257800"/>
            <a:ext cx="3028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Filtres periode, snapshots et switchers permettent d'analyser l'evolution du risque et du volume.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7176F-7CFE-4957-A8D5-B790113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E2C2-FC55-4512-B488-FC45DB94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4991A-592D-4300-8484-F70D36A8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5C28E-4070-435B-A0DB-74828EAF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3028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Chaque profil genere les rapports correspondant a son perimetre de donnees.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399FE-DA96-44B5-B914-7CAC59A3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A816C-CB6E-441F-A627-306E508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73200-36E9-4E95-BAA5-6EE5D72D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37003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69DFF-A3C4-4388-BC31-9243E631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0E0C2-0F9C-4991-88EE-EE714032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B776B-B4DA-493E-A79C-77EB827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SECURITE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8BDF8-2324-41A9-8C27-5B209481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Les droits et les donnees sont controles a chaque niveau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23BEA-C111-46B6-8560-4F85276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L'application applique une logique de scope pour proteger les donnees sensibles du reseau.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3799E-D617-41D2-B917-81E18341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672C2-647F-4224-95EA-7956D5C0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46D3-7487-4C72-9B50-895D610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ED804-4487-4805-A305-350762B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781BD-BD1E-475A-BA2A-F9C65C7D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288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Mecanisme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DE72F-F168-413F-B1C9-E4711721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7692A-471D-41B1-B2F1-23164928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288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A0F6C-2C71-4724-A0DB-B72F0562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EE550-451F-4460-8DF5-5B6359F3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F2C18-A4DA-468C-9AF3-4D35A5B3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Authentification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C0A26-D9BD-4928-8B55-9F085E4C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72BC5-58A2-4808-9299-020D6A43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0507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JWT / session applicative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1846A-6AAD-4CFD-9CCB-11794EE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0D1E2-7FB5-46E0-98E4-6D393F2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0507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Acces identifie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EF705-509A-43B9-9769-636429FE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250FA-C6B6-4534-9943-50546C7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6FF47-6349-46BD-8259-404FB86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Mot de passe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4D1F2-7E75-4153-ACA4-CBBB66B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6139F-A499-433F-9132-969D127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813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Changement obligatoire a la premiere connexion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E3165-5405-4712-A679-371BFC35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F9575-C96E-4564-81EF-BFB6CBB1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813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Reduction des mots de passe provisoires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FB5D6-4A77-4136-833E-D722215F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40CC6-560F-4DAE-AAF8-8FF40E1D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33F7B-2256-4797-B128-B9492D6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DB0A2-39B0-4595-9017-EFD74D4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5550D-4D87-4612-A2C1-F5D4251D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5757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Super Admin, Admin, Chef d'agence, GP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29600-44D2-4B14-B60A-BC8B702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71E30C-3210-4C8E-98F6-7C79777E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5757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Fonctions visibles selon role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7EEA2-EE5B-4349-A9F6-F7A292B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36612B-50BE-4A68-A0C5-D0BEE834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7F790A-AA5B-4CEE-9F64-4D9D053F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Scope donnees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118AD1-3902-463B-9586-A63E5A54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576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9423F-D634-42DC-A0E9-0BEDF99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338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Filtrage backend agence / 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178D59-C5E8-4F85-A019-C0632673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3FBB4C-1ABA-4942-B77A-EDCE3F0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338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Protection contre acces horizontal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82FA9A-CF44-409E-8752-CE55D1D4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E86898-7EF1-435C-A631-C106384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477E62-E247-4FD6-A92D-FF37C407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Snapshots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B78A0D-8DD2-4DB8-ACC7-5DDA11C6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092768-25FD-4AA5-B8D8-67319DC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007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Batchs distincts et suppression controlee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79EE58-567C-4A0C-80F4-84BBCB44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F1DE31-3526-4CED-A28C-BB07B61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007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Traçabilite des imports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A7FB83-D843-41D3-B0B6-35D4BF4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8EBFCC-6FCF-496F-B64B-52C4E718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07E8DE-9CED-4DB5-90BB-981EF09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5F7721-065D-4A72-AAAF-9F9333F3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E21012-273B-4F31-B294-9B036914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863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Fonctionnels, securite, surcharge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7AA7DC-A6A3-4F05-8082-62FBC3E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7E4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7F0468-51BA-40C7-B9D6-D33CF8F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86325"/>
            <a:ext cx="377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Confiance avant generalisation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25D1AF-BC53-479F-B430-65E25BED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7D000E-4DE9-445E-8D43-78669D35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95CA1B-E49E-4AF7-97A3-3F570265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68895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0BA47-84E3-4FA9-B622-C6792977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20FD-419A-41BA-BA51-8FE8043B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03BA3-241D-44DC-9BFF-06B78BC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ERGONOMIE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BB377-0EBF-4A67-8BA1-6076DC7E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Une interface moderne pour bureau et tablette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6303D-B3FC-4D88-9BAD-30609102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Le design privilegie la lisibilite des metrics, la navigation rapide et les actions tactiles.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ccf97b3ed46e6"/>
          <a:stretch xmlns:a="http://schemas.openxmlformats.org/drawingml/2006/main"/>
        </p:blipFill>
        <p:spPr>
          <a:xfrm xmlns:a="http://schemas.openxmlformats.org/drawingml/2006/main">
            <a:off x="611427" y="1885950"/>
            <a:ext cx="6435247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BE18A-CC93-4631-BC93-0492DAD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55975-8A0C-467F-96B2-375F184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Chartes pleine largeur pour lire les evolutions mensuelles.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F50B4-948A-4B1C-90A1-C51C125B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62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37216-EC41-4AB6-862A-7D77D95B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0507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Tooltips enrichis: PAR, cohortes, volumes et nombre de decaissements.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DFD52-270D-4BCC-99AC-97DBC5F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46D8E-3B97-4F66-8F17-3826FB28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Combobox et filtres compacts pour agence, agent et snapshots.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327A5-D9B5-4003-8F38-60AC81E3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A16DF-FED2-4F9B-920D-FABEBD9C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Tableaux pagines avec tri, recherche globale et exports.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590A7-BC85-4C96-B7D7-A327E589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DA4F8-03A3-4D76-B076-DAD10319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8780E-5C50-45B5-AF32-9FF7964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54931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416A7-CE80-4472-B3D1-1E7A02E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F4DF0-7AFD-4B7C-AB1D-A82878B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ADABB-EF51-42EF-BE9A-9CD8CEE4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VALEUR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7085F-2D2F-4A47-9EC7-F951030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Le reseau gagne en visibilite et en discipline de pilotage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316AA-D9E4-4770-8C2A-16C8639C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transforme un fichier operationnel quotidien en outil de decision partage.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15C1-F3C1-437E-8535-ABE6A3EC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49CCA-A595-4D86-819A-D1BA4DAA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27229-44EC-4C4C-994C-AF8163DE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941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Pour les GP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F2F08-00CB-4FFD-96D0-2A1B1D0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Lecture immediate de leur portefeuille, impayes, echeances futures et possibilites de renouvellement.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65AA-4C15-4014-B0BE-94F8D8B0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49C69-ED1B-4110-9206-70655E6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2237F-5475-45B4-A02C-BAE8B461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941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Pour les Chefs d'agence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C3882-773B-4BA0-AE68-33A991C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Suivi consolide des GP, repartition des objectifs et exports par portefeuille.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D4AB8-1824-445B-AAD5-152DC69A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3B823-A984-4E53-9832-AD466CE8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9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D6DEF-F9CD-4498-85A6-4B7E63A1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941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Pour les Admins regionaux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F6C38-16E0-4C55-A37E-84B287F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Vision globale en lecture seule pour comparer agences et tendances.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3E785-5D50-4402-AEEE-A99BAFD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DED62-BC0C-44B8-BD3E-CE8D724A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B4898-1E89-45A6-8771-08610E72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941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Pour le Siege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8AB36-8B6D-489B-ACE5-33BBC20A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972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Centralisation, gouvernance des utilisateurs, imports, snapshots, objectifs et donnees sensibles.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2BBA6-FCEE-4273-82EB-85195961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48E30-BD85-46C5-8A3C-8353F84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1D0C3-B2DF-4A0E-87A2-0B6381FD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1853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005DE-431A-4035-A7D8-FC8A8156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D0D10-F0CE-4322-871E-D769A2C8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3F7E1-8B12-4BE0-8138-0D694E83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C825E-452A-4950-B75A-61B4F2FF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La base est prete pour de nouvelles extensions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CA8FB-D083-448E-B158-D3D9DEEE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Le module peut evoluer sans casser la logique centrale des MCR, metrics et permissions.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89A65-71CC-4D36-916E-6AD5000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190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2091B-7364-4D89-B2F1-503CB606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74F3A-349F-45D4-8F40-96C2F9B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790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Court terme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24AD5-7F18-4C7A-B598-E890E20A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7908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Finaliser le module Bonus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Stabiliser les guides utilisateurs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Enrichir les rapports par profil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Renforcer les tests automatises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A466C-409F-4581-81D2-D28F3D7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190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15411-46DE-4AF5-8B72-DE94A39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1EF6-CB7A-42FB-BAC9-16B2A0DA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19325"/>
            <a:ext cx="2790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Moyen terme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5C325-A10F-4853-90F7-DFB1E07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43175"/>
            <a:ext cx="27908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Integrer alertes de risque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Ajouter vues regionales avancees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Automatiser archives QA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Industrialiser pipeline de deploiement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87601-3428-41B3-AA27-9E656C8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190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B2B47-301B-4759-B2D4-9130DCBF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A5ED4-C387-4208-A772-F053720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19325"/>
            <a:ext cx="2790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Long terme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C3F5F-6A1A-463C-AAF7-63AEB263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43175"/>
            <a:ext cx="27908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Connexion avec systemes internes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Historique analytique plus profond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KPI predictifs et scoring</a:t>
            </a:r>
          </a:p>
          <a:p xmlns:a="http://schemas.openxmlformats.org/drawingml/2006/main">
            <a:pPr algn="l">
              <a:defRPr sz="945" b="0">
                <a:solidFill>
                  <a:srgbClr val="26384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263842"/>
                </a:solidFill>
                <a:latin typeface="Aptos"/>
                <a:ea typeface="Aptos"/>
                <a:cs typeface="Aptos"/>
              </a:rPr>
              <a:t>Observabilite applicative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DB3FA-16F4-4DC5-9CF1-555E15C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23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Message cle: une application interne utile des aujourd'hui, extensible pour demain.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A7A2-D378-4900-94F3-CFBE741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7C62B-C58A-4FDB-880F-74F65C18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62AEE-8540-4870-81D2-BF85A5D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57650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BDAEF-FF74-4A4D-B456-9846D2A3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A7CE2-D914-41F6-80C7-42CD8E40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A5F31-EE9E-48E8-8E45-E943F05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D3733-9D86-4C70-A6A0-51567B1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3847"/>
                </a:solidFill>
                <a:latin typeface="Aptos Display"/>
                <a:ea typeface="Aptos Display"/>
                <a:cs typeface="Aptos Display"/>
              </a:rPr>
              <a:t>Un outil de pilotage commun pour tout le reseau MicroCred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9A784-9652-4100-B852-5A0522F2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La presentation ouvre la phase d'appropriation: tester, remonter les besoins et stabiliser les usages.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54852-2E06-497A-8FF8-BDDCB775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BB207-A928-4E07-BCB2-7E8DF03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1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B3093-CB89-4B80-AD7F-A59DD04A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990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Centralisation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EE3A9-FF86-478F-B423-6366785C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1990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MCR controle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898EF-4CD5-49FF-AECA-DC00C32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6A878-9769-41F6-BE52-CE6A7E6F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7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A772"/>
                </a:solidFill>
                <a:latin typeface="Aptos"/>
                <a:ea typeface="Aptos"/>
                <a:cs typeface="Aptos"/>
              </a:rPr>
              <a:t>Calculs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0D6A6-8CF9-4132-A7F1-6E0A1ED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1990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Fiabilite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6E642-674F-4BD5-8D0C-E0BD344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62250"/>
            <a:ext cx="1990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formules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29182-E0A3-4518-976A-A7AC828F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78CF6-8733-4F8B-9BA0-3269445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85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5858"/>
                </a:solidFill>
                <a:latin typeface="Aptos"/>
                <a:ea typeface="Aptos"/>
                <a:cs typeface="Aptos"/>
              </a:rPr>
              <a:t>PAR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89DFA-B756-4DFB-B27C-B3BE4DE6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1990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Pilotage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B7B15-1C12-4DA4-B7EA-FFD95FDB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1990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cohortes et volumes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6D8E5-2533-4BFE-9259-E65EB3E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2312B-DA89-4E5C-AF47-793785C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1990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9B3D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021C0-7979-4B01-9A16-929601B8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990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Adoption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E1CE4-C329-48B7-98D6-B79FE212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990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GP, agence, region, siege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12854-0ED6-4381-9976-74A0B46D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3847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03847"/>
                </a:solidFill>
                <a:latin typeface="Aptos"/>
                <a:ea typeface="Aptos"/>
                <a:cs typeface="Aptos"/>
              </a:rPr>
              <a:t>Questions / Demonstration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BCEC1-4C28-47CD-9F96-07C1712F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Merci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3001B-F1D2-464F-83C6-D2E1357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FF214-5630-4798-B993-C64E475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7280"/>
                </a:solidFill>
                <a:latin typeface="Aptos"/>
                <a:ea typeface="Aptos"/>
                <a:cs typeface="Aptos"/>
              </a:rPr>
              <a:t>Metrics/GP/MCR - Seminaire reseau interne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4FCB4-361A-4246-863D-80A8C27C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A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C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9092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2026-06-10T15:17:53.0930000Z</dcterms:created>
  <dcterms:modified xsi:type="dcterms:W3CDTF">2026-06-10T15:17:53.0930000Z</dcterms:modified>
</coreProperties>
</file>